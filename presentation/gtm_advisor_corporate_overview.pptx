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21440" y="-640080"/>
            <a:ext cx="4206240" cy="4206240"/>
          </a:xfrm>
          <a:prstGeom prst="ellipse">
            <a:avLst/>
          </a:prstGeom>
          <a:solidFill>
            <a:srgbClr val="7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852160"/>
            <a:ext cx="3840480" cy="3840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6126480"/>
            <a:ext cx="2468880" cy="2468880"/>
          </a:xfrm>
          <a:prstGeom prst="ellipse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8181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C82"/>
                </a:solidFill>
                <a:latin typeface="Aptos"/>
              </a:defRPr>
            </a:pPr>
            <a:r>
              <a:t>Life Science Watch | LISCIHUB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61720" y="77906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1792"/>
            <a:ext cx="8412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3400" b="1">
                <a:solidFill>
                  <a:srgbClr val="081F3D"/>
                </a:solidFill>
                <a:latin typeface="Aptos"/>
              </a:defRPr>
            </a:pPr>
            <a:r>
              <a:t>Life Science 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70432"/>
            <a:ext cx="8046720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ptos"/>
              </a:defRPr>
            </a:pPr>
            <a:r>
              <a:t>AI-assisted life-science news intelligence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47088"/>
            <a:ext cx="7680960" cy="10515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800" b="0">
                <a:solidFill>
                  <a:srgbClr val="081F3D"/>
                </a:solidFill>
                <a:latin typeface="Aptos"/>
              </a:defRPr>
            </a:pPr>
            <a:r>
              <a:t>Life Science Watch automates company-news monitoring across a selected life-science universe. It retrieves corporate newsroom articles, normalizes the content, enriches it with AI-generated business summaries, and publishes the results through a secure dashboard and daily Excel deliverable.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337560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3337560"/>
            <a:ext cx="30632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566160"/>
            <a:ext cx="260604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959352"/>
            <a:ext cx="2606040" cy="8229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Reduces manual monitoring and gives teams a consistent view of competitor and partner news.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337560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77639" y="3337560"/>
            <a:ext cx="3063240" cy="73152"/>
          </a:xfrm>
          <a:prstGeom prst="roundRect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3566160"/>
            <a:ext cx="260604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AI enrichment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959352"/>
            <a:ext cx="2606040" cy="8229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Summaries, topics, business impact, geography, signal type, and priority scoring.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42048" y="3337560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42048" y="3337560"/>
            <a:ext cx="3063240" cy="73152"/>
          </a:xfrm>
          <a:prstGeom prst="roundRect">
            <a:avLst/>
          </a:prstGeom>
          <a:solidFill>
            <a:srgbClr val="F5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3566160"/>
            <a:ext cx="260604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3959352"/>
            <a:ext cx="2606040" cy="8229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Dashboard for interactive review and a daily Google Drive Excel workbook for stakeholders.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06456" y="3337560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06456" y="3337560"/>
            <a:ext cx="3063240" cy="73152"/>
          </a:xfrm>
          <a:prstGeom prst="roundRect">
            <a:avLst/>
          </a:prstGeom>
          <a:solidFill>
            <a:srgbClr val="0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35056" y="3566160"/>
            <a:ext cx="260604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35056" y="3959352"/>
            <a:ext cx="2606040" cy="8229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Runs automatically on the Lenovo homelab with Postgres, Docker, and secure HTTPS access.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623560"/>
            <a:ext cx="23317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PostgreSQL-backed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5623560"/>
            <a:ext cx="2057400" cy="347472"/>
          </a:xfrm>
          <a:prstGeom prst="roundRect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OpenAI summaries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04688" y="5623560"/>
            <a:ext cx="1965960" cy="347472"/>
          </a:xfrm>
          <a:prstGeom prst="roundRect">
            <a:avLst/>
          </a:prstGeom>
          <a:solidFill>
            <a:srgbClr val="0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Daily refresh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71816" y="5623560"/>
            <a:ext cx="2331720" cy="347472"/>
          </a:xfrm>
          <a:prstGeom prst="roundRect">
            <a:avLst/>
          </a:prstGeom>
          <a:solidFill>
            <a:srgbClr val="08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Secure viewer mode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04704" y="5623560"/>
            <a:ext cx="2377440" cy="347472"/>
          </a:xfrm>
          <a:prstGeom prst="roundRect">
            <a:avLst/>
          </a:prstGeom>
          <a:solidFill>
            <a:srgbClr val="F5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Excel +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21440" y="-640080"/>
            <a:ext cx="4206240" cy="4206240"/>
          </a:xfrm>
          <a:prstGeom prst="ellipse">
            <a:avLst/>
          </a:prstGeom>
          <a:solidFill>
            <a:srgbClr val="7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852160"/>
            <a:ext cx="3840480" cy="3840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6126480"/>
            <a:ext cx="2468880" cy="2468880"/>
          </a:xfrm>
          <a:prstGeom prst="ellipse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81F3D"/>
                </a:solidFill>
                <a:latin typeface="Aptos Display"/>
              </a:defRPr>
            </a:pPr>
            <a:r>
              <a:t>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069848"/>
            <a:ext cx="905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C82"/>
                </a:solidFill>
                <a:latin typeface="Aptos"/>
              </a:defRPr>
            </a:pPr>
            <a:r>
              <a:t>From source monitoring to dashboard and spreadsheet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44752"/>
            <a:ext cx="105156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78181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C82"/>
                </a:solidFill>
                <a:latin typeface="Aptos"/>
              </a:defRPr>
            </a:pPr>
            <a:r>
              <a:t>Life Science Watch | LISCIHUB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61720" y="77906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2880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BED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08176" y="1499616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12848"/>
            <a:ext cx="1728216" cy="38404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400" b="1">
                <a:solidFill>
                  <a:srgbClr val="081F3D"/>
                </a:solidFill>
                <a:latin typeface="Aptos"/>
              </a:defRPr>
            </a:pPr>
            <a:r>
              <a:t>Configure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880360"/>
            <a:ext cx="1655064" cy="1600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080" b="0">
                <a:solidFill>
                  <a:srgbClr val="566C82"/>
                </a:solidFill>
                <a:latin typeface="Aptos"/>
              </a:defRPr>
            </a:pPr>
            <a:r>
              <a:t>Company URLs and FULL/DELTA modes live in tech tables.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07208" y="3566160"/>
            <a:ext cx="256032" cy="0"/>
          </a:xfrm>
          <a:prstGeom prst="line">
            <a:avLst/>
          </a:prstGeom>
          <a:ln w="20320">
            <a:solidFill>
              <a:srgbClr val="7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63240" y="182880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BED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21608" y="1499616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2212848"/>
            <a:ext cx="1728216" cy="38404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400" b="1">
                <a:solidFill>
                  <a:srgbClr val="081F3D"/>
                </a:solidFill>
                <a:latin typeface="Aptos"/>
              </a:defRPr>
            </a:pPr>
            <a:r>
              <a:t>Scrape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2880360"/>
            <a:ext cx="1655064" cy="1600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080" b="0">
                <a:solidFill>
                  <a:srgbClr val="566C82"/>
                </a:solidFill>
                <a:latin typeface="Aptos"/>
              </a:defRPr>
            </a:pPr>
            <a:r>
              <a:t>Python retrieves listing pages and article pages.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0" y="3566160"/>
            <a:ext cx="256032" cy="0"/>
          </a:xfrm>
          <a:prstGeom prst="line">
            <a:avLst/>
          </a:prstGeom>
          <a:ln w="20320">
            <a:solidFill>
              <a:srgbClr val="7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76672" y="182880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BED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0" y="1499616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1264" y="2212848"/>
            <a:ext cx="1728216" cy="38404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400" b="1">
                <a:solidFill>
                  <a:srgbClr val="081F3D"/>
                </a:solidFill>
                <a:latin typeface="Aptos"/>
              </a:defRPr>
            </a:pPr>
            <a:r>
              <a:t>Stage articles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880360"/>
            <a:ext cx="1655064" cy="1600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080" b="0">
                <a:solidFill>
                  <a:srgbClr val="566C82"/>
                </a:solidFill>
                <a:latin typeface="Aptos"/>
              </a:defRPr>
            </a:pPr>
            <a:r>
              <a:t>Clean article records are merged into company staging schemas.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34072" y="3566160"/>
            <a:ext cx="256032" cy="0"/>
          </a:xfrm>
          <a:prstGeom prst="line">
            <a:avLst/>
          </a:prstGeom>
          <a:ln w="20320">
            <a:solidFill>
              <a:srgbClr val="7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90104" y="182880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BED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1499616"/>
            <a:ext cx="658368" cy="658368"/>
          </a:xfrm>
          <a:prstGeom prst="ellipse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54696" y="2212848"/>
            <a:ext cx="1728216" cy="38404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400" b="1">
                <a:solidFill>
                  <a:srgbClr val="081F3D"/>
                </a:solidFill>
                <a:latin typeface="Aptos"/>
              </a:defRPr>
            </a:pPr>
            <a:r>
              <a:t>AI enrich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1272" y="2880360"/>
            <a:ext cx="1655064" cy="1600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080" b="0">
                <a:solidFill>
                  <a:srgbClr val="566C82"/>
                </a:solidFill>
                <a:latin typeface="Aptos"/>
              </a:defRPr>
            </a:pPr>
            <a:r>
              <a:t>Summaries and structured business fields are generated.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47504" y="3566160"/>
            <a:ext cx="256032" cy="0"/>
          </a:xfrm>
          <a:prstGeom prst="line">
            <a:avLst/>
          </a:prstGeom>
          <a:ln w="20320">
            <a:solidFill>
              <a:srgbClr val="7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003536" y="182880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BED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61904" y="1499616"/>
            <a:ext cx="658368" cy="658368"/>
          </a:xfrm>
          <a:prstGeom prst="ellipse">
            <a:avLst/>
          </a:prstGeom>
          <a:solidFill>
            <a:srgbClr val="0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8128" y="2212848"/>
            <a:ext cx="1728216" cy="38404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400" b="1">
                <a:solidFill>
                  <a:srgbClr val="081F3D"/>
                </a:solidFill>
                <a:latin typeface="Aptos"/>
              </a:defRPr>
            </a:pPr>
            <a:r>
              <a:t>Build DWH 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04704" y="2880360"/>
            <a:ext cx="1655064" cy="1600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080" b="0">
                <a:solidFill>
                  <a:srgbClr val="566C82"/>
                </a:solidFill>
                <a:latin typeface="Aptos"/>
              </a:defRPr>
            </a:pPr>
            <a:r>
              <a:t>Reporting views create last 7 days, month, 6 months, and all-history windows.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060936" y="3566160"/>
            <a:ext cx="256032" cy="0"/>
          </a:xfrm>
          <a:prstGeom prst="line">
            <a:avLst/>
          </a:prstGeom>
          <a:ln w="20320">
            <a:solidFill>
              <a:srgbClr val="7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2316968" y="182880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BED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975336" y="1499616"/>
            <a:ext cx="658368" cy="658368"/>
          </a:xfrm>
          <a:prstGeom prst="ellipse">
            <a:avLst/>
          </a:prstGeom>
          <a:solidFill>
            <a:srgbClr val="0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81560" y="2212848"/>
            <a:ext cx="1728216" cy="38404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400" b="1">
                <a:solidFill>
                  <a:srgbClr val="081F3D"/>
                </a:solidFill>
                <a:latin typeface="Aptos"/>
              </a:defRPr>
            </a:pPr>
            <a:r>
              <a:t>Publish outputs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18136" y="2880360"/>
            <a:ext cx="1655064" cy="1600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080" b="0">
                <a:solidFill>
                  <a:srgbClr val="566C82"/>
                </a:solidFill>
                <a:latin typeface="Aptos"/>
              </a:defRPr>
            </a:pPr>
            <a:r>
              <a:t>Dashboard, chat, Excel workbook, and Google Drive sync are refreshed.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897880"/>
            <a:ext cx="12252960" cy="7315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800" b="1">
                <a:solidFill>
                  <a:srgbClr val="081F3D"/>
                </a:solidFill>
                <a:latin typeface="Aptos"/>
              </a:defRPr>
            </a:pPr>
            <a:r>
              <a:t>Daily automation runs the full chain at 08:00 UTC: scraping -&gt; AI summaries -&gt; Excel export -&gt; Google Drive upload.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21440" y="-640080"/>
            <a:ext cx="4206240" cy="4206240"/>
          </a:xfrm>
          <a:prstGeom prst="ellipse">
            <a:avLst/>
          </a:prstGeom>
          <a:solidFill>
            <a:srgbClr val="7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852160"/>
            <a:ext cx="3840480" cy="3840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6126480"/>
            <a:ext cx="2468880" cy="2468880"/>
          </a:xfrm>
          <a:prstGeom prst="ellipse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81F3D"/>
                </a:solidFill>
                <a:latin typeface="Aptos Display"/>
              </a:defRPr>
            </a:pPr>
            <a:r>
              <a:t>Overall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069848"/>
            <a:ext cx="905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C82"/>
                </a:solidFill>
                <a:latin typeface="Aptos"/>
              </a:defRPr>
            </a:pPr>
            <a:r>
              <a:t>Admin station, Lenovo runtime, data layers, and public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44752"/>
            <a:ext cx="105156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78181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C82"/>
                </a:solidFill>
                <a:latin typeface="Aptos"/>
              </a:defRPr>
            </a:pPr>
            <a:r>
              <a:t>Life Science Watch | LISCIHUB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61720" y="77906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3736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737360"/>
            <a:ext cx="2834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965960"/>
            <a:ext cx="237744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Mac admin station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59152"/>
            <a:ext cx="2377440" cy="10515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Remote development and operations through VS Code over SSH, browser access, DBeaver, and terminal commands.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1463040"/>
            <a:ext cx="38404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94760" y="1463040"/>
            <a:ext cx="3840480" cy="73152"/>
          </a:xfrm>
          <a:prstGeom prst="roundRect">
            <a:avLst/>
          </a:prstGeom>
          <a:solidFill>
            <a:srgbClr val="08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1691640"/>
            <a:ext cx="338328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Lenovo Ubuntu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084832"/>
            <a:ext cx="3383280" cy="15544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Docker Compose runs the FastAPI app and dedicated liscihub-postgres database. Host cron triggers the daily pipeline.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463040"/>
            <a:ext cx="2926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09560" y="1463040"/>
            <a:ext cx="2926080" cy="73152"/>
          </a:xfrm>
          <a:prstGeom prst="roundRect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691640"/>
            <a:ext cx="246888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Data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084832"/>
            <a:ext cx="2468880" cy="15544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PostgreSQL schemas: tech configuration, staging schemas, article summaries, monitoring, and dwh reporting views.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09960" y="1463040"/>
            <a:ext cx="27889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109960" y="1463040"/>
            <a:ext cx="2788920" cy="73152"/>
          </a:xfrm>
          <a:prstGeom prst="roundRect">
            <a:avLst/>
          </a:prstGeom>
          <a:solidFill>
            <a:srgbClr val="F5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0" y="1691640"/>
            <a:ext cx="233172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Public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2084832"/>
            <a:ext cx="2331720" cy="15544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Caddy reverse proxy publishes HTTPS. Hostinger manages the domain/DNS for life-science-news.com.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93008" y="2606040"/>
            <a:ext cx="301752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06040"/>
            <a:ext cx="27432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835640" y="2606040"/>
            <a:ext cx="27432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434840"/>
            <a:ext cx="12893040" cy="32918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  <a:latin typeface="Aptos"/>
              </a:defRPr>
            </a:pPr>
            <a:r>
              <a:t>Runtime data 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983480"/>
            <a:ext cx="2423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4983480"/>
            <a:ext cx="242316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212080"/>
            <a:ext cx="19659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Ingestion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605272"/>
            <a:ext cx="196596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Corporate news sources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00400" y="5641848"/>
            <a:ext cx="320040" cy="0"/>
          </a:xfrm>
          <a:prstGeom prst="line">
            <a:avLst/>
          </a:prstGeom>
          <a:ln w="20320">
            <a:solidFill>
              <a:srgbClr val="7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520440" y="4983480"/>
            <a:ext cx="2423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20440" y="4983480"/>
            <a:ext cx="2423160" cy="73152"/>
          </a:xfrm>
          <a:prstGeom prst="roundRect">
            <a:avLst/>
          </a:prstGeom>
          <a:solidFill>
            <a:srgbClr val="0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0" y="5212080"/>
            <a:ext cx="19659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5605272"/>
            <a:ext cx="196596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Python scraper + AI jobs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43600" y="5641848"/>
            <a:ext cx="320040" cy="0"/>
          </a:xfrm>
          <a:prstGeom prst="line">
            <a:avLst/>
          </a:prstGeom>
          <a:ln w="20320">
            <a:solidFill>
              <a:srgbClr val="7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263640" y="4983480"/>
            <a:ext cx="2423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63640" y="4983480"/>
            <a:ext cx="2423160" cy="73152"/>
          </a:xfrm>
          <a:prstGeom prst="roundRect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212080"/>
            <a:ext cx="19659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Staging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605272"/>
            <a:ext cx="196596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Company-specific tables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686800" y="5641848"/>
            <a:ext cx="320040" cy="0"/>
          </a:xfrm>
          <a:prstGeom prst="line">
            <a:avLst/>
          </a:prstGeom>
          <a:ln w="20320">
            <a:solidFill>
              <a:srgbClr val="7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006840" y="4983480"/>
            <a:ext cx="2423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006840" y="4983480"/>
            <a:ext cx="2423160" cy="73152"/>
          </a:xfrm>
          <a:prstGeom prst="roundRect">
            <a:avLst/>
          </a:prstGeom>
          <a:solidFill>
            <a:srgbClr val="08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5212080"/>
            <a:ext cx="19659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DWH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5605272"/>
            <a:ext cx="196596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Reporting views + priority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430000" y="5641848"/>
            <a:ext cx="320040" cy="0"/>
          </a:xfrm>
          <a:prstGeom prst="line">
            <a:avLst/>
          </a:prstGeom>
          <a:ln w="20320">
            <a:solidFill>
              <a:srgbClr val="7D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1750040" y="4983480"/>
            <a:ext cx="2423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750040" y="4983480"/>
            <a:ext cx="2423160" cy="73152"/>
          </a:xfrm>
          <a:prstGeom prst="roundRect">
            <a:avLst/>
          </a:prstGeom>
          <a:solidFill>
            <a:srgbClr val="F5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978640" y="5212080"/>
            <a:ext cx="19659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978640" y="5605272"/>
            <a:ext cx="196596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Dashboard + Excel + Drive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21440" y="-640080"/>
            <a:ext cx="4206240" cy="4206240"/>
          </a:xfrm>
          <a:prstGeom prst="ellipse">
            <a:avLst/>
          </a:prstGeom>
          <a:solidFill>
            <a:srgbClr val="7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852160"/>
            <a:ext cx="3840480" cy="3840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6126480"/>
            <a:ext cx="2468880" cy="2468880"/>
          </a:xfrm>
          <a:prstGeom prst="ellipse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81F3D"/>
                </a:solidFill>
                <a:latin typeface="Aptos Display"/>
              </a:defRPr>
            </a:pPr>
            <a:r>
              <a:t>Security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069848"/>
            <a:ext cx="905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C82"/>
                </a:solidFill>
                <a:latin typeface="Aptos"/>
              </a:defRPr>
            </a:pPr>
            <a:r>
              <a:t>Controls applied to keep the Lenovo safe while exposing a usable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44752"/>
            <a:ext cx="105156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78181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C82"/>
                </a:solidFill>
                <a:latin typeface="Aptos"/>
              </a:defRPr>
            </a:pPr>
            <a:r>
              <a:t>Life Science Watch | LISCIHUB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61720" y="77906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691640"/>
            <a:ext cx="60807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691640"/>
            <a:ext cx="608076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920240"/>
            <a:ext cx="56235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13432"/>
            <a:ext cx="5623560" cy="4846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Separate admin and viewer tokens. Viewer login form sets secure cookies; admin-only routes control status and manual runs.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691640"/>
            <a:ext cx="60807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52360" y="1691640"/>
            <a:ext cx="6080760" cy="73152"/>
          </a:xfrm>
          <a:prstGeom prst="roundRect">
            <a:avLst/>
          </a:prstGeom>
          <a:solidFill>
            <a:srgbClr val="08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920240"/>
            <a:ext cx="56235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Network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313432"/>
            <a:ext cx="5623560" cy="4846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App binds locally and is reached publicly only through Caddy. Internal Docker network connects app and reverse proxy.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383280"/>
            <a:ext cx="60807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383280"/>
            <a:ext cx="6080760" cy="73152"/>
          </a:xfrm>
          <a:prstGeom prst="roundRect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611880"/>
            <a:ext cx="56235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Web 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5623560" cy="4846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HTTPS, trusted-host enforcement, security headers, disabled docs in production, and rate limiting for dashboard/chat traffic.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3383280"/>
            <a:ext cx="60807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52360" y="3383280"/>
            <a:ext cx="6080760" cy="73152"/>
          </a:xfrm>
          <a:prstGeom prst="roundRect">
            <a:avLst/>
          </a:prstGeom>
          <a:solidFill>
            <a:srgbClr val="0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3611880"/>
            <a:ext cx="56235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Container hardening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005072"/>
            <a:ext cx="5623560" cy="4846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Docker service uses no-new-privileges, dropped Linux capabilities, tmpfs for /tmp, and a dedicated compose stack.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60807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5074920"/>
            <a:ext cx="6080760" cy="73152"/>
          </a:xfrm>
          <a:prstGeom prst="roundRect">
            <a:avLst/>
          </a:prstGeom>
          <a:solidFill>
            <a:srgbClr val="F5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303520"/>
            <a:ext cx="56235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Secret hygiene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96712"/>
            <a:ext cx="5623560" cy="4846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Runtime secrets live in infra/.env and are excluded from Docker builds. Tokens were rotated after public deployment.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5074920"/>
            <a:ext cx="60807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52360" y="5074920"/>
            <a:ext cx="608076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5303520"/>
            <a:ext cx="56235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696712"/>
            <a:ext cx="5623560" cy="4846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Health endpoints are safe for uptime checks; tests validate auth helpers and scrape-to-push behavior.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967728"/>
            <a:ext cx="12618720" cy="38404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>
              <a:defRPr sz="1700" b="1">
                <a:solidFill>
                  <a:srgbClr val="081F3D"/>
                </a:solidFill>
                <a:latin typeface="Aptos"/>
              </a:defRPr>
            </a:pPr>
            <a:r>
              <a:t>Security posture: public viewer experience, protected operations, minimal host exposure, and auditable daily automation.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21440" y="-640080"/>
            <a:ext cx="4206240" cy="4206240"/>
          </a:xfrm>
          <a:prstGeom prst="ellipse">
            <a:avLst/>
          </a:prstGeom>
          <a:solidFill>
            <a:srgbClr val="7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852160"/>
            <a:ext cx="3840480" cy="3840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6126480"/>
            <a:ext cx="2468880" cy="2468880"/>
          </a:xfrm>
          <a:prstGeom prst="ellipse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81F3D"/>
                </a:solidFill>
                <a:latin typeface="Aptos Display"/>
              </a:defRPr>
            </a:pPr>
            <a:r>
              <a:t>Dashboard And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069848"/>
            <a:ext cx="905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C82"/>
                </a:solidFill>
                <a:latin typeface="Aptos"/>
              </a:defRPr>
            </a:pPr>
            <a:r>
              <a:t>Interactive reporting, agent-assisted review, and source-backed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44752"/>
            <a:ext cx="105156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78181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C82"/>
                </a:solidFill>
                <a:latin typeface="Aptos"/>
              </a:defRPr>
            </a:pPr>
            <a:r>
              <a:t>Life Science Watch | LISCIHUB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61720" y="77906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763524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BED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508760"/>
            <a:ext cx="7635240" cy="50292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1682496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43584" y="168249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99616" y="1682496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240280"/>
            <a:ext cx="2834640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2000" b="1">
                <a:solidFill>
                  <a:srgbClr val="081F3D"/>
                </a:solidFill>
                <a:latin typeface="Aptos"/>
              </a:defRPr>
            </a:pPr>
            <a:r>
              <a:t>News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2788920"/>
            <a:ext cx="16002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Last 7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2788920"/>
            <a:ext cx="1417320" cy="347472"/>
          </a:xfrm>
          <a:prstGeom prst="roundRect">
            <a:avLst/>
          </a:prstGeom>
          <a:solidFill>
            <a:srgbClr val="0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SANOFI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788920"/>
            <a:ext cx="1600200" cy="347472"/>
          </a:xfrm>
          <a:prstGeom prst="roundRect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Priority 95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493008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1560" y="3493008"/>
            <a:ext cx="31546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21608"/>
            <a:ext cx="269748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Company 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114800"/>
            <a:ext cx="2697480" cy="457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Period-aware company filters show only companies with matching news.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493008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80560" y="3493008"/>
            <a:ext cx="3337560" cy="73152"/>
          </a:xfrm>
          <a:prstGeom prst="roundRect">
            <a:avLst/>
          </a:prstGeom>
          <a:solidFill>
            <a:srgbClr val="25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721608"/>
            <a:ext cx="28803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Ask The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114800"/>
            <a:ext cx="2880360" cy="457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Answers are generated from filtered articles and include source summaries and URLs.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074920"/>
            <a:ext cx="6766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51560" y="5074920"/>
            <a:ext cx="6766560" cy="73152"/>
          </a:xfrm>
          <a:prstGeom prst="roundRect">
            <a:avLst/>
          </a:prstGeom>
          <a:solidFill>
            <a:srgbClr val="0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303520"/>
            <a:ext cx="63093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450" b="1">
                <a:solidFill>
                  <a:srgbClr val="081F3D"/>
                </a:solidFill>
                <a:latin typeface="Aptos"/>
              </a:defRPr>
            </a:pPr>
            <a:r>
              <a:t>Source-backed news cards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696712"/>
            <a:ext cx="6309360" cy="3657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150" b="0">
                <a:solidFill>
                  <a:srgbClr val="566C82"/>
                </a:solidFill>
                <a:latin typeface="Aptos"/>
              </a:defRPr>
            </a:pPr>
            <a:r>
              <a:t>Each article includes title, company, date, priority, AI summary, business impact, tags, and original URL.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1691640"/>
            <a:ext cx="4480560" cy="457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2200" b="1">
                <a:solidFill>
                  <a:srgbClr val="081F3D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331720"/>
            <a:ext cx="4434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81F3D"/>
                </a:solidFill>
                <a:latin typeface="Aptos"/>
              </a:defRPr>
            </a:pPr>
            <a:r>
              <a:t>Viewer login for read-only business users</a:t>
            </a:r>
          </a:p>
          <a:p>
            <a:pPr>
              <a:spcAft>
                <a:spcPts val="600"/>
              </a:spcAft>
              <a:defRPr sz="1500">
                <a:solidFill>
                  <a:srgbClr val="081F3D"/>
                </a:solidFill>
                <a:latin typeface="Aptos"/>
              </a:defRPr>
            </a:pPr>
            <a:r>
              <a:t>Period filter: last 7 days, month, 6 months, all</a:t>
            </a:r>
          </a:p>
          <a:p>
            <a:pPr>
              <a:spcAft>
                <a:spcPts val="600"/>
              </a:spcAft>
              <a:defRPr sz="1500">
                <a:solidFill>
                  <a:srgbClr val="081F3D"/>
                </a:solidFill>
                <a:latin typeface="Aptos"/>
              </a:defRPr>
            </a:pPr>
            <a:r>
              <a:t>Company dropdown adapts to the selected period</a:t>
            </a:r>
          </a:p>
          <a:p>
            <a:pPr>
              <a:spcAft>
                <a:spcPts val="600"/>
              </a:spcAft>
              <a:defRPr sz="1500">
                <a:solidFill>
                  <a:srgbClr val="081F3D"/>
                </a:solidFill>
                <a:latin typeface="Aptos"/>
              </a:defRPr>
            </a:pPr>
            <a:r>
              <a:t>Agent answers include article summaries and URLs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754880"/>
            <a:ext cx="4480560" cy="38404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defRPr sz="1800" b="1">
                <a:solidFill>
                  <a:srgbClr val="081F3D"/>
                </a:solidFill>
                <a:latin typeface="Aptos"/>
              </a:defRPr>
            </a:pPr>
            <a:r>
              <a:t>Delivery channels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5321808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81F3D"/>
                </a:solidFill>
                <a:latin typeface="Aptos"/>
              </a:defRPr>
            </a:pPr>
            <a:r>
              <a:t>Public HTTPS site: life-science-news.com</a:t>
            </a:r>
          </a:p>
          <a:p>
            <a:pPr>
              <a:spcAft>
                <a:spcPts val="600"/>
              </a:spcAft>
              <a:defRPr sz="1500">
                <a:solidFill>
                  <a:srgbClr val="081F3D"/>
                </a:solidFill>
                <a:latin typeface="Aptos"/>
              </a:defRPr>
            </a:pPr>
            <a:r>
              <a:t>Daily Excel workbook uploaded to Google Drive</a:t>
            </a:r>
          </a:p>
          <a:p>
            <a:pPr>
              <a:spcAft>
                <a:spcPts val="600"/>
              </a:spcAft>
              <a:defRPr sz="1500">
                <a:solidFill>
                  <a:srgbClr val="081F3D"/>
                </a:solidFill>
                <a:latin typeface="Aptos"/>
              </a:defRPr>
            </a:pPr>
            <a:r>
              <a:t>Dashboard and workbook use the same DWH 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